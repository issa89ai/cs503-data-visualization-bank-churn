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70" r:id="rId3"/>
    <p:sldId id="263" r:id="rId4"/>
    <p:sldId id="264" r:id="rId5"/>
    <p:sldId id="257" r:id="rId6"/>
    <p:sldId id="258" r:id="rId7"/>
    <p:sldId id="259" r:id="rId8"/>
    <p:sldId id="260" r:id="rId9"/>
    <p:sldId id="261" r:id="rId10"/>
    <p:sldId id="266" r:id="rId11"/>
    <p:sldId id="262" r:id="rId12"/>
    <p:sldId id="265" r:id="rId13"/>
    <p:sldId id="267" r:id="rId14"/>
    <p:sldId id="268" r:id="rId15"/>
    <p:sldId id="269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oIdoRVbEVIFYLZZeGX+Vo6NwV/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0C2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06761B3-5ABD-4008-8FC3-768F6B6C9467}">
  <a:tblStyle styleId="{306761B3-5ABD-4008-8FC3-768F6B6C9467}" styleName="Table_0">
    <a:wholeTbl>
      <a:tcTxStyle b="off" i="off">
        <a:font>
          <a:latin typeface="Trebuchet MS"/>
          <a:ea typeface="Trebuchet MS"/>
          <a:cs typeface="Trebuchet MS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EF4E7"/>
          </a:solidFill>
        </a:fill>
      </a:tcStyle>
    </a:wholeTbl>
    <a:band1H>
      <a:tcTxStyle/>
      <a:tcStyle>
        <a:tcBdr/>
        <a:fill>
          <a:solidFill>
            <a:srgbClr val="DBE9CB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BE9CB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Trebuchet MS"/>
          <a:ea typeface="Trebuchet MS"/>
          <a:cs typeface="Trebuchet MS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>
          <a:extLst>
            <a:ext uri="{FF2B5EF4-FFF2-40B4-BE49-F238E27FC236}">
              <a16:creationId xmlns:a16="http://schemas.microsoft.com/office/drawing/2014/main" id="{38F8BFAA-2704-F16D-8ADD-00D78EBC2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:notes">
            <a:extLst>
              <a:ext uri="{FF2B5EF4-FFF2-40B4-BE49-F238E27FC236}">
                <a16:creationId xmlns:a16="http://schemas.microsoft.com/office/drawing/2014/main" id="{F068FF10-A728-CEF3-6471-21B40BC1E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6:notes">
            <a:extLst>
              <a:ext uri="{FF2B5EF4-FFF2-40B4-BE49-F238E27FC236}">
                <a16:creationId xmlns:a16="http://schemas.microsoft.com/office/drawing/2014/main" id="{EFBA4C2F-4195-349A-395B-BA2B5C2C4A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3252373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>
          <a:extLst>
            <a:ext uri="{FF2B5EF4-FFF2-40B4-BE49-F238E27FC236}">
              <a16:creationId xmlns:a16="http://schemas.microsoft.com/office/drawing/2014/main" id="{8CB42630-7762-6054-64DF-2B08ECCB6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7:notes">
            <a:extLst>
              <a:ext uri="{FF2B5EF4-FFF2-40B4-BE49-F238E27FC236}">
                <a16:creationId xmlns:a16="http://schemas.microsoft.com/office/drawing/2014/main" id="{F67D1CB9-2F55-E56F-E56F-E1426539D5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7:notes">
            <a:extLst>
              <a:ext uri="{FF2B5EF4-FFF2-40B4-BE49-F238E27FC236}">
                <a16:creationId xmlns:a16="http://schemas.microsoft.com/office/drawing/2014/main" id="{135447B2-D953-2C62-123B-D67F2D3473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394221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9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4" name="Google Shape;24;p9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25" name="Google Shape;25;p9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26" name="Google Shape;26;p9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27" name="Google Shape;27;p9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28" name="Google Shape;28;p9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9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30" name="Google Shape;30;p9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31" name="Google Shape;31;p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32" name="Google Shape;32;p9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9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" name="Google Shape;34;p9"/>
          <p:cNvSpPr txBox="1"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Font typeface="Trebuchet MS"/>
              <a:buNone/>
              <a:defRPr sz="54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r">
              <a:spcBef>
                <a:spcPts val="1000"/>
              </a:spcBef>
              <a:spcAft>
                <a:spcPts val="0"/>
              </a:spcAft>
              <a:buSzPts val="1440"/>
              <a:buNone/>
              <a:defRPr>
                <a:solidFill>
                  <a:srgbClr val="7F7F7F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000"/>
              <a:buFont typeface="Trebuchet MS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4184035" cy="38807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5089970" y="2160589"/>
            <a:ext cx="4184034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body" idx="2"/>
          </p:nvPr>
        </p:nvSpPr>
        <p:spPr>
          <a:xfrm>
            <a:off x="675745" y="2737245"/>
            <a:ext cx="4185623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body" idx="3"/>
          </p:nvPr>
        </p:nvSpPr>
        <p:spPr>
          <a:xfrm>
            <a:off x="5088383" y="2160983"/>
            <a:ext cx="418561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body" idx="4"/>
          </p:nvPr>
        </p:nvSpPr>
        <p:spPr>
          <a:xfrm>
            <a:off x="5088384" y="2737245"/>
            <a:ext cx="4185617" cy="33041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Trebuchet MS"/>
              <a:buNone/>
              <a:defRPr sz="2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body" idx="1"/>
          </p:nvPr>
        </p:nvSpPr>
        <p:spPr>
          <a:xfrm>
            <a:off x="4760461" y="514924"/>
            <a:ext cx="4513541" cy="5526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2"/>
          </p:nvPr>
        </p:nvSpPr>
        <p:spPr>
          <a:xfrm>
            <a:off x="677334" y="2777069"/>
            <a:ext cx="3854528" cy="25844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6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6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Trebuchet MS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>
            <a:spLocks noGrp="1"/>
          </p:cNvSpPr>
          <p:nvPr>
            <p:ph type="pic" idx="2"/>
          </p:nvPr>
        </p:nvSpPr>
        <p:spPr>
          <a:xfrm>
            <a:off x="677334" y="609600"/>
            <a:ext cx="8596668" cy="3845718"/>
          </a:xfrm>
          <a:prstGeom prst="rect">
            <a:avLst/>
          </a:prstGeom>
          <a:noFill/>
          <a:ln>
            <a:noFill/>
          </a:ln>
        </p:spPr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677334" y="5367338"/>
            <a:ext cx="8596667" cy="674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87" name="Google Shape;87;p17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7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7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1366139" y="3632200"/>
            <a:ext cx="7224524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 sz="16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2"/>
          </p:nvPr>
        </p:nvSpPr>
        <p:spPr>
          <a:xfrm>
            <a:off x="677335" y="4470400"/>
            <a:ext cx="8596668" cy="1570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3" name="Google Shape;103;p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800" b="0" i="0" u="none" strike="noStrike" cap="none">
              <a:solidFill>
                <a:srgbClr val="BFE47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" name="Google Shape;107;p20"/>
          <p:cNvSpPr txBox="1"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8" name="Google Shape;108;p20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Name Card">
  <p:cSld name="Quote Name Card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1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rgbClr val="3F3F3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21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15" name="Google Shape;115;p21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1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21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0" i="0" u="none" strike="noStrike" cap="none">
                <a:solidFill>
                  <a:srgbClr val="BFE47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ue or False">
  <p:cSld name="True or False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Trebuchet MS"/>
              <a:buNone/>
              <a:defRPr sz="44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22"/>
          <p:cNvSpPr txBox="1">
            <a:spLocks noGrp="1"/>
          </p:cNvSpPr>
          <p:nvPr>
            <p:ph type="body" idx="1"/>
          </p:nvPr>
        </p:nvSpPr>
        <p:spPr>
          <a:xfrm>
            <a:off x="677332" y="4013200"/>
            <a:ext cx="8596669" cy="514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Font typeface="Trebuchet MS"/>
              <a:buNone/>
              <a:defRPr sz="240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280"/>
              <a:buFont typeface="Trebuchet MS"/>
              <a:buNone/>
              <a:defRPr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120"/>
              <a:buFont typeface="Trebuchet MS"/>
              <a:buNone/>
              <a:defRPr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960"/>
              <a:buFont typeface="Trebuchet MS"/>
              <a:buNone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23" name="Google Shape;123;p22"/>
          <p:cNvSpPr txBox="1">
            <a:spLocks noGrp="1"/>
          </p:cNvSpPr>
          <p:nvPr>
            <p:ph type="body" idx="2"/>
          </p:nvPr>
        </p:nvSpPr>
        <p:spPr>
          <a:xfrm>
            <a:off x="677335" y="4527448"/>
            <a:ext cx="8596668" cy="15139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7F7F7F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22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22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body" idx="1"/>
          </p:nvPr>
        </p:nvSpPr>
        <p:spPr>
          <a:xfrm rot="5400000">
            <a:off x="3035281" y="-197358"/>
            <a:ext cx="3880773" cy="8596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0" name="Google Shape;130;p23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3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>
            <a:spLocks noGrp="1"/>
          </p:cNvSpPr>
          <p:nvPr>
            <p:ph type="title"/>
          </p:nvPr>
        </p:nvSpPr>
        <p:spPr>
          <a:xfrm rot="5400000">
            <a:off x="5994319" y="2582953"/>
            <a:ext cx="5251451" cy="13047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4"/>
          <p:cNvSpPr txBox="1">
            <a:spLocks noGrp="1"/>
          </p:cNvSpPr>
          <p:nvPr>
            <p:ph type="body" idx="1"/>
          </p:nvPr>
        </p:nvSpPr>
        <p:spPr>
          <a:xfrm rot="5400000">
            <a:off x="1581685" y="-294750"/>
            <a:ext cx="5251450" cy="706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36" name="Google Shape;136;p24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4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4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8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7" name="Google Shape;7;p8"/>
            <p:cNvCxnSpPr/>
            <p:nvPr/>
          </p:nvCxnSpPr>
          <p:spPr>
            <a:xfrm>
              <a:off x="9371012" y="0"/>
              <a:ext cx="1219200" cy="6858000"/>
            </a:xfrm>
            <a:prstGeom prst="straightConnector1">
              <a:avLst/>
            </a:prstGeom>
            <a:noFill/>
            <a:ln w="9525" cap="flat" cmpd="sng">
              <a:solidFill>
                <a:srgbClr val="BFBFBF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8" name="Google Shape;8;p8"/>
            <p:cNvCxnSpPr/>
            <p:nvPr/>
          </p:nvCxnSpPr>
          <p:spPr>
            <a:xfrm flipH="1">
              <a:off x="7425267" y="3681413"/>
              <a:ext cx="4763558" cy="3176587"/>
            </a:xfrm>
            <a:prstGeom prst="straightConnector1">
              <a:avLst/>
            </a:prstGeom>
            <a:noFill/>
            <a:ln w="9525" cap="flat" cmpd="sng">
              <a:solidFill>
                <a:srgbClr val="D8D8D8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9" name="Google Shape;9;p8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 extrusionOk="0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29803"/>
              </a:schemeClr>
            </a:solidFill>
            <a:ln>
              <a:noFill/>
            </a:ln>
          </p:spPr>
        </p:sp>
        <p:sp>
          <p:nvSpPr>
            <p:cNvPr id="10" name="Google Shape;10;p8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 extrusionOk="0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11" name="Google Shape;11;p8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1764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8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 extrusionOk="0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7818">
                <a:alpha val="69803"/>
              </a:srgbClr>
            </a:solidFill>
            <a:ln>
              <a:noFill/>
            </a:ln>
          </p:spPr>
        </p:sp>
        <p:sp>
          <p:nvSpPr>
            <p:cNvPr id="13" name="Google Shape;13;p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 extrusionOk="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rgbClr val="BFE471">
                <a:alpha val="69803"/>
              </a:srgbClr>
            </a:solidFill>
            <a:ln>
              <a:noFill/>
            </a:ln>
          </p:spPr>
        </p:sp>
        <p:sp>
          <p:nvSpPr>
            <p:cNvPr id="14" name="Google Shape;14;p8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 extrusionOk="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4705"/>
              </a:schemeClr>
            </a:solidFill>
            <a:ln>
              <a:noFill/>
            </a:ln>
          </p:spPr>
        </p:sp>
        <p:sp>
          <p:nvSpPr>
            <p:cNvPr id="15" name="Google Shape;15;p8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4705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" name="Google Shape;17;p8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  <a:defRPr sz="36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dt" idx="10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ftr" idx="11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sldNum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chemeClr val="accent1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powerbi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pps.microsoft.com/store/detail/power-bi-desktop/9NTXR16HNW1T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apps.microsoft.com/store/detail/power-bi-desktop/9NTXR16HNW1T" TargetMode="External"/><Relationship Id="rId3" Type="http://schemas.openxmlformats.org/officeDocument/2006/relationships/hyperlink" Target="https://learn.microsoft.com/en-us/power-bi/fundamentals/power-bi-overview" TargetMode="External"/><Relationship Id="rId7" Type="http://schemas.openxmlformats.org/officeDocument/2006/relationships/hyperlink" Target="https://www.sqlbi.com/guides/power-bi/" TargetMode="External"/><Relationship Id="rId2" Type="http://schemas.openxmlformats.org/officeDocument/2006/relationships/hyperlink" Target="https://www.microsoft.com/en-us/power-platform/products/power-bi/deskto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radacad.com/power-bi-components-and-their-uses" TargetMode="External"/><Relationship Id="rId5" Type="http://schemas.openxmlformats.org/officeDocument/2006/relationships/hyperlink" Target="https://public.tableau.com/en-us/s/" TargetMode="External"/><Relationship Id="rId4" Type="http://schemas.openxmlformats.org/officeDocument/2006/relationships/hyperlink" Target="https://www.g2.com/compare/power-bi-vs-tableau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"/>
          <p:cNvSpPr txBox="1">
            <a:spLocks noGrp="1"/>
          </p:cNvSpPr>
          <p:nvPr>
            <p:ph type="ctrTitle"/>
          </p:nvPr>
        </p:nvSpPr>
        <p:spPr>
          <a:xfrm>
            <a:off x="1507067" y="1578624"/>
            <a:ext cx="8241616" cy="1646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sz="3600" dirty="0"/>
              <a:t>Microsoft </a:t>
            </a:r>
            <a:r>
              <a:rPr lang="en-US" sz="3600" dirty="0">
                <a:solidFill>
                  <a:srgbClr val="90C226"/>
                </a:solidFill>
              </a:rPr>
              <a:t>Po</a:t>
            </a:r>
            <a:r>
              <a:rPr lang="en-US" sz="3600" dirty="0"/>
              <a:t>wer BI: Overview, Features, </a:t>
            </a:r>
            <a:r>
              <a:rPr lang="en-US" sz="3600" dirty="0">
                <a:solidFill>
                  <a:srgbClr val="90C226"/>
                </a:solidFill>
              </a:rPr>
              <a:t>and</a:t>
            </a:r>
            <a:r>
              <a:rPr lang="en-US" sz="3600" dirty="0"/>
              <a:t> Comparison with Tableau</a:t>
            </a:r>
            <a:endParaRPr dirty="0"/>
          </a:p>
        </p:txBody>
      </p:sp>
      <p:sp>
        <p:nvSpPr>
          <p:cNvPr id="144" name="Google Shape;144;p1"/>
          <p:cNvSpPr txBox="1"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440"/>
              <a:buNone/>
            </a:pPr>
            <a:r>
              <a:rPr lang="en-US" i="1" dirty="0"/>
              <a:t>A study on accessibility, functionality, and integration capabilities</a:t>
            </a:r>
            <a:br>
              <a:rPr lang="en-US" dirty="0"/>
            </a:br>
            <a:r>
              <a:rPr lang="en-US" dirty="0"/>
              <a:t>Pedram </a:t>
            </a:r>
            <a:r>
              <a:rPr lang="en-US" dirty="0" err="1"/>
              <a:t>Sharifani</a:t>
            </a:r>
            <a:r>
              <a:rPr lang="en-US" dirty="0"/>
              <a:t>, Ahmad Issa</a:t>
            </a:r>
            <a:r>
              <a:rPr lang="en-US" i="1" dirty="0"/>
              <a:t>| Data Visualization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0A0BAD2-2EFC-7789-5389-85252C89035D}"/>
              </a:ext>
            </a:extLst>
          </p:cNvPr>
          <p:cNvSpPr txBox="1"/>
          <p:nvPr/>
        </p:nvSpPr>
        <p:spPr>
          <a:xfrm>
            <a:off x="2684207" y="1483195"/>
            <a:ext cx="4083337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rgbClr val="90C226"/>
                </a:solidFill>
                <a:latin typeface="Trebuchet MS" panose="020B0603020202020204" pitchFamily="34" charset="0"/>
              </a:rPr>
              <a:t>Content</a:t>
            </a:r>
          </a:p>
          <a:p>
            <a:endParaRPr lang="en-US" sz="1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Introduction to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/>
              <a:t>Comparison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Demo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CA" sz="18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A" sz="1800" b="1" dirty="0"/>
              <a:t>Presenting the functionality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1294285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8B0C76-965A-F0EB-CB9F-3D50020D467D}"/>
              </a:ext>
            </a:extLst>
          </p:cNvPr>
          <p:cNvSpPr txBox="1"/>
          <p:nvPr/>
        </p:nvSpPr>
        <p:spPr>
          <a:xfrm>
            <a:off x="1868129" y="1681317"/>
            <a:ext cx="61622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>
                <a:hlinkClick r:id="rId2" action="ppaction://hlinkfile"/>
              </a:rPr>
              <a:t>https://www.microsoft.com/en-us/power-platform/products/power-bi/desktop</a:t>
            </a:r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B868A6-69FB-1355-2977-EF55B04DC4CF}"/>
              </a:ext>
            </a:extLst>
          </p:cNvPr>
          <p:cNvSpPr txBox="1"/>
          <p:nvPr/>
        </p:nvSpPr>
        <p:spPr>
          <a:xfrm>
            <a:off x="1769806" y="698090"/>
            <a:ext cx="59878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latin typeface="Trebuchet MS" panose="020B0603020202020204" pitchFamily="34" charset="0"/>
              </a:rPr>
              <a:t>How to get Power BI ?</a:t>
            </a:r>
          </a:p>
          <a:p>
            <a:r>
              <a:rPr lang="en-US" sz="1800" dirty="0">
                <a:latin typeface="Trebuchet MS" panose="020B0603020202020204" pitchFamily="34" charset="0"/>
              </a:rPr>
              <a:t>It is very easy , you can just go to the main Microsoft website and download it  </a:t>
            </a:r>
            <a:endParaRPr lang="en-CA" sz="1800" dirty="0">
              <a:latin typeface="Trebuchet MS" panose="020B0603020202020204" pitchFamily="34" charset="0"/>
            </a:endParaRPr>
          </a:p>
        </p:txBody>
      </p:sp>
      <p:pic>
        <p:nvPicPr>
          <p:cNvPr id="5" name="Picture 4" descr="A person with his arms crossed&#10;&#10;AI-generated content may be incorrect.">
            <a:extLst>
              <a:ext uri="{FF2B5EF4-FFF2-40B4-BE49-F238E27FC236}">
                <a16:creationId xmlns:a16="http://schemas.microsoft.com/office/drawing/2014/main" id="{BD04E642-25FB-1512-AD18-7442188B8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0542" y="2370075"/>
            <a:ext cx="6992679" cy="3789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889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2FD990-C70A-13B4-78B3-15201B7427A5}"/>
              </a:ext>
            </a:extLst>
          </p:cNvPr>
          <p:cNvSpPr txBox="1"/>
          <p:nvPr/>
        </p:nvSpPr>
        <p:spPr>
          <a:xfrm>
            <a:off x="186812" y="307777"/>
            <a:ext cx="8465779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latin typeface="Trebuchet MS" panose="020B0603020202020204" pitchFamily="34" charset="0"/>
              </a:rPr>
              <a:t>Or if you have a Windows OS you can just download it from your Microsoft Store</a:t>
            </a:r>
          </a:p>
          <a:p>
            <a:endParaRPr lang="en-US" sz="1800" dirty="0">
              <a:latin typeface="Trebuchet MS" panose="020B0603020202020204" pitchFamily="34" charset="0"/>
            </a:endParaRPr>
          </a:p>
          <a:p>
            <a:r>
              <a:rPr lang="en-CA" sz="1600" dirty="0">
                <a:hlinkClick r:id="rId2"/>
              </a:rPr>
              <a:t>https://apps.microsoft.com/store/detail/power-bi-desktop/9NTXR16HNW1T</a:t>
            </a:r>
            <a:r>
              <a:rPr lang="en-US" sz="1200" dirty="0">
                <a:latin typeface="Trebuchet MS" panose="020B0603020202020204" pitchFamily="34" charset="0"/>
              </a:rPr>
              <a:t> </a:t>
            </a:r>
            <a:endParaRPr lang="en-CA" sz="1200" dirty="0">
              <a:latin typeface="Trebuchet MS" panose="020B0603020202020204" pitchFamily="34" charset="0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E925E4E-2CA1-3064-E9D2-1FA9ED31B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6349" y="1462539"/>
            <a:ext cx="6453916" cy="5087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265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dirty="0"/>
              <a:t>Introduction to Power BI</a:t>
            </a:r>
            <a:endParaRPr dirty="0"/>
          </a:p>
        </p:txBody>
      </p:sp>
      <p:sp>
        <p:nvSpPr>
          <p:cNvPr id="150" name="Google Shape;150;p2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Power BI is a business intelligence (BI) and data visualization tool developed by Microsoft.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It helps users analyze, clean, and visualize data efficiently.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A part of the Microsoft Power Platform, integrating well with other Microsoft services.</a:t>
            </a:r>
            <a:endParaRPr dirty="0"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dirty="0"/>
              <a:t>Used for data-driven decision-making in various industries.</a:t>
            </a:r>
            <a:endParaRPr dirty="0"/>
          </a:p>
          <a:p>
            <a:pPr marL="342900" lvl="0" indent="-251459" algn="l" rtl="0">
              <a:spcBef>
                <a:spcPts val="1000"/>
              </a:spcBef>
              <a:spcAft>
                <a:spcPts val="0"/>
              </a:spcAft>
              <a:buSzPts val="1440"/>
              <a:buNone/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dirty="0"/>
              <a:t>Key Features of Power BI</a:t>
            </a:r>
            <a:endParaRPr dirty="0"/>
          </a:p>
        </p:txBody>
      </p:sp>
      <p:sp>
        <p:nvSpPr>
          <p:cNvPr id="156" name="Google Shape;156;p3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Interactive Dashboards</a:t>
            </a:r>
            <a:r>
              <a:rPr lang="en-US"/>
              <a:t> – Create real-time reports with drag-and-drop functionality.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Data Connectivity</a:t>
            </a:r>
            <a:r>
              <a:rPr lang="en-US"/>
              <a:t> – Supports multiple data sources like Excel, SQL Server, and cloud-based services.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Data Transformation</a:t>
            </a:r>
            <a:r>
              <a:rPr lang="en-US"/>
              <a:t> – Power Query allows data cleaning and shaping.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AI and Machine Learning</a:t>
            </a:r>
            <a:r>
              <a:rPr lang="en-US"/>
              <a:t> – Uses AI-powered insights for predictive analytics.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Collaboration &amp; Sharing</a:t>
            </a:r>
            <a:r>
              <a:rPr lang="en-US"/>
              <a:t> – Power BI Service enables cloud-based sharing and collaboration.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Security &amp; Governance</a:t>
            </a:r>
            <a:r>
              <a:rPr lang="en-US"/>
              <a:t> – Provides row-level security (RLS) and compliance features.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Power BI Components</a:t>
            </a:r>
            <a:endParaRPr/>
          </a:p>
        </p:txBody>
      </p:sp>
      <p:sp>
        <p:nvSpPr>
          <p:cNvPr id="162" name="Google Shape;162;p4"/>
          <p:cNvSpPr txBox="1"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Power BI Desktop</a:t>
            </a:r>
            <a:r>
              <a:rPr lang="en-US"/>
              <a:t> – For creating reports and dashboards.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Power BI Service</a:t>
            </a:r>
            <a:r>
              <a:rPr lang="en-US"/>
              <a:t> – Cloud-based platform for sharing and collaboration.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Power BI Mobile</a:t>
            </a:r>
            <a:r>
              <a:rPr lang="en-US"/>
              <a:t> – Access dashboards on smartphones and tablets.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Power Query</a:t>
            </a:r>
            <a:r>
              <a:rPr lang="en-US"/>
              <a:t> – Data transformation and cleaning tool.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Power Pivot</a:t>
            </a:r>
            <a:r>
              <a:rPr lang="en-US"/>
              <a:t> – Advanced data modeling capabilities.</a:t>
            </a:r>
            <a:endParaRPr/>
          </a:p>
          <a:p>
            <a:pPr marL="342900" lvl="0" indent="-342900" algn="l" rtl="0">
              <a:spcBef>
                <a:spcPts val="1000"/>
              </a:spcBef>
              <a:spcAft>
                <a:spcPts val="0"/>
              </a:spcAft>
              <a:buSzPts val="1440"/>
              <a:buChar char="►"/>
            </a:pPr>
            <a:r>
              <a:rPr lang="en-US" b="1"/>
              <a:t>Power BI Gateway</a:t>
            </a:r>
            <a:r>
              <a:rPr lang="en-US"/>
              <a:t> – Connects on-premises data to cloud-based reports.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Power BI vs. Tableau Public – Accessibility</a:t>
            </a:r>
            <a:endParaRPr/>
          </a:p>
        </p:txBody>
      </p:sp>
      <p:graphicFrame>
        <p:nvGraphicFramePr>
          <p:cNvPr id="168" name="Google Shape;168;p5"/>
          <p:cNvGraphicFramePr/>
          <p:nvPr/>
        </p:nvGraphicFramePr>
        <p:xfrm>
          <a:off x="677863" y="2306253"/>
          <a:ext cx="8596300" cy="3590100"/>
        </p:xfrm>
        <a:graphic>
          <a:graphicData uri="http://schemas.openxmlformats.org/drawingml/2006/table">
            <a:tbl>
              <a:tblPr firstRow="1" bandRow="1">
                <a:noFill/>
                <a:tableStyleId>{306761B3-5ABD-4008-8FC3-768F6B6C9467}</a:tableStyleId>
              </a:tblPr>
              <a:tblGrid>
                <a:gridCol w="284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0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12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49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Feature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Power BI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Tableau Public</a:t>
                      </a:r>
                      <a:endParaRPr/>
                    </a:p>
                  </a:txBody>
                  <a:tcPr marL="89750" marR="89750" marT="44875" marB="448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Ease of Use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User-friendly, integrates with Microsoft tools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Steeper learning curve, more customization options</a:t>
                      </a:r>
                      <a:endParaRPr/>
                    </a:p>
                  </a:txBody>
                  <a:tcPr marL="89750" marR="89750" marT="44875" marB="448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Storage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Local file storage, limited cloud sharing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Must publish publicly on Tableau Public</a:t>
                      </a:r>
                      <a:endParaRPr/>
                    </a:p>
                  </a:txBody>
                  <a:tcPr marL="89750" marR="89750" marT="44875" marB="448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3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Collaboration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Limited in free version, requires Power BI Pro for sharing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 private sharing, all work is public</a:t>
                      </a:r>
                      <a:endParaRPr/>
                    </a:p>
                  </a:txBody>
                  <a:tcPr marL="89750" marR="89750" marT="44875" marB="448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4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Data Source Connectivity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Supports various local and cloud sources</a:t>
                      </a:r>
                      <a:endParaRPr/>
                    </a:p>
                  </a:txBody>
                  <a:tcPr marL="89750" marR="89750" marT="44875" marB="448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Limited connections, no direct database access</a:t>
                      </a:r>
                      <a:endParaRPr/>
                    </a:p>
                  </a:txBody>
                  <a:tcPr marL="89750" marR="89750" marT="44875" marB="448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dirty="0"/>
              <a:t>Power BI vs. Tableau Public – Functionality</a:t>
            </a:r>
            <a:endParaRPr dirty="0"/>
          </a:p>
        </p:txBody>
      </p:sp>
      <p:graphicFrame>
        <p:nvGraphicFramePr>
          <p:cNvPr id="174" name="Google Shape;174;p6"/>
          <p:cNvGraphicFramePr/>
          <p:nvPr>
            <p:extLst>
              <p:ext uri="{D42A27DB-BD31-4B8C-83A1-F6EECF244321}">
                <p14:modId xmlns:p14="http://schemas.microsoft.com/office/powerpoint/2010/main" val="585842035"/>
              </p:ext>
            </p:extLst>
          </p:nvPr>
        </p:nvGraphicFramePr>
        <p:xfrm>
          <a:off x="843028" y="2160588"/>
          <a:ext cx="8281307" cy="4055045"/>
        </p:xfrm>
        <a:graphic>
          <a:graphicData uri="http://schemas.openxmlformats.org/drawingml/2006/table">
            <a:tbl>
              <a:tblPr firstRow="1" bandRow="1">
                <a:noFill/>
                <a:tableStyleId>{306761B3-5ABD-4008-8FC3-768F6B6C9467}</a:tableStyleId>
              </a:tblPr>
              <a:tblGrid>
                <a:gridCol w="187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Feature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Power BI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Tableau Public</a:t>
                      </a:r>
                      <a:endParaRPr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Visualization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Provides interactive dashboards with built-in templates and drag-and-drop features. Some advanced visuals (e.g., paginated reports) require a Pro license.</a:t>
                      </a:r>
                      <a:endParaRPr dirty="0"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Highly customizable visualizations with a variety of charts, but requires more manual work to format them effectively.</a:t>
                      </a:r>
                      <a:endParaRPr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Source Connectivity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Supports multiple sources like Excel, CSV, and limited cloud services. Does not allow direct connections to databases unless you upgrade to Power BI Pro.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Only supports Excel, CSV, and Google Sheets. Does not allow connections to databases (SQL Server, MySQL, etc.)—you must import data manually.</a:t>
                      </a:r>
                      <a:endParaRPr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Refresh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Manual refresh in Power BI Desktop. Automatic refresh requires Power BI Pro.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does not refresh automatically—you must manually re-upload files to update dashboards.</a:t>
                      </a:r>
                      <a:endParaRPr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AI &amp; Analytics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Provides basic AI-driven insights like Q&amp;A (natural language queries) and Quick Insights. Advanced AI models require Power BI Pro.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No built-in AI analytics or predictive modeling features. Requires manual data manipulation for deeper insights.</a:t>
                      </a:r>
                      <a:endParaRPr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Interactivity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Fully interactive reports with filters, slicers, and drill-through capabilities. Users can interact with data locally in Power BI Desktop.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Offers interactive dashboards, but with fewer built-in analytics functions. Requires more effort to create complex interactions.</a:t>
                      </a:r>
                      <a:endParaRPr dirty="0"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2">
          <a:extLst>
            <a:ext uri="{FF2B5EF4-FFF2-40B4-BE49-F238E27FC236}">
              <a16:creationId xmlns:a16="http://schemas.microsoft.com/office/drawing/2014/main" id="{D7DB6109-F9C1-ABD4-565B-D438DA285E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">
            <a:extLst>
              <a:ext uri="{FF2B5EF4-FFF2-40B4-BE49-F238E27FC236}">
                <a16:creationId xmlns:a16="http://schemas.microsoft.com/office/drawing/2014/main" id="{376D6ACA-4564-94BB-1196-82A6219913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 dirty="0"/>
              <a:t>Power BI vs. Tableau Public – Functionality</a:t>
            </a:r>
            <a:endParaRPr dirty="0"/>
          </a:p>
        </p:txBody>
      </p:sp>
      <p:graphicFrame>
        <p:nvGraphicFramePr>
          <p:cNvPr id="174" name="Google Shape;174;p6">
            <a:extLst>
              <a:ext uri="{FF2B5EF4-FFF2-40B4-BE49-F238E27FC236}">
                <a16:creationId xmlns:a16="http://schemas.microsoft.com/office/drawing/2014/main" id="{F5060113-A8C4-BDBF-4055-B6190106086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781430"/>
              </p:ext>
            </p:extLst>
          </p:nvPr>
        </p:nvGraphicFramePr>
        <p:xfrm>
          <a:off x="843028" y="2160588"/>
          <a:ext cx="8281307" cy="3881400"/>
        </p:xfrm>
        <a:graphic>
          <a:graphicData uri="http://schemas.openxmlformats.org/drawingml/2006/table">
            <a:tbl>
              <a:tblPr firstRow="1" bandRow="1">
                <a:noFill/>
                <a:tableStyleId>{306761B3-5ABD-4008-8FC3-768F6B6C9467}</a:tableStyleId>
              </a:tblPr>
              <a:tblGrid>
                <a:gridCol w="1879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1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4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11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Feature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Power BI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Tableau Public</a:t>
                      </a:r>
                      <a:endParaRPr/>
                    </a:p>
                  </a:txBody>
                  <a:tcPr marL="59350" marR="59350" marT="29675" marB="2967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Visualization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Built in templates, drag and drop, some visuals needs pro</a:t>
                      </a:r>
                      <a:endParaRPr lang="en-CA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Customizable visuals, but needs more manual formatting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Source Connectivity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Supports many formats; DB access needs Pro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Only supports Excel, CSV, Google Sheets; no DB connections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Data Refresh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Manual by default; auto-refresh needs Pro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auto-refresh; must re-upload data manually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95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AI &amp; Analytics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Basic AI tools like Q&amp;A and Insights; advanced needs Pro</a:t>
                      </a:r>
                      <a:endParaRPr dirty="0"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built-in AI; manual data analysis required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72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Interactivity</a:t>
                      </a:r>
                      <a:endParaRPr/>
                    </a:p>
                  </a:txBody>
                  <a:tcPr marL="59350" marR="59350" marT="29675" marB="29675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Fully interactive with filters, slicers, drill-through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Interactive, but fewer built-in analytics; setup takes more effort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99280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/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Power BI vs. Tableau Public – Integration</a:t>
            </a:r>
            <a:endParaRPr/>
          </a:p>
        </p:txBody>
      </p:sp>
      <p:graphicFrame>
        <p:nvGraphicFramePr>
          <p:cNvPr id="180" name="Google Shape;180;p7"/>
          <p:cNvGraphicFramePr/>
          <p:nvPr/>
        </p:nvGraphicFramePr>
        <p:xfrm>
          <a:off x="677863" y="2239634"/>
          <a:ext cx="8596325" cy="3723325"/>
        </p:xfrm>
        <a:graphic>
          <a:graphicData uri="http://schemas.openxmlformats.org/drawingml/2006/table">
            <a:tbl>
              <a:tblPr firstRow="1" bandRow="1">
                <a:noFill/>
                <a:tableStyleId>{306761B3-5ABD-4008-8FC3-768F6B6C9467}</a:tableStyleId>
              </a:tblPr>
              <a:tblGrid>
                <a:gridCol w="1867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1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50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Feature</a:t>
                      </a:r>
                      <a:endParaRPr/>
                    </a:p>
                  </a:txBody>
                  <a:tcPr marL="71600" marR="71600" marT="35800" marB="35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Power BI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Tableau</a:t>
                      </a:r>
                      <a:endParaRPr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98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Microsoft Integration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Deep integration with Excel, Azure, Teams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Limited Microsoft compatibility</a:t>
                      </a:r>
                      <a:endParaRPr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5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Third-party Support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Supports some external services like Google Analytics, Salesforce, and web APIs, but many third-party connectors require Power BI Pro.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More flexibility with third-party tools, but only supports manual file imports in the free version. No direct API or database connections.</a:t>
                      </a:r>
                      <a:endParaRPr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4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Cloud Services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Native Azure integration, supports OneDrive and limited cloud connectors in the free version.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Works well with AWS and Google Cloud, but data must be imported manually in the free version.</a:t>
                      </a:r>
                      <a:endParaRPr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4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Python Integration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Supports Python scripting for data manipulation, machine learning, and visualizations, but requires enabling Python in settings. Some features may need Power BI Pro.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Supports Python scripting for data cleaning and analytics, but since there’s no live database connection, users must manually refresh and re-upload data after processing.</a:t>
                      </a:r>
                      <a:endParaRPr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8">
          <a:extLst>
            <a:ext uri="{FF2B5EF4-FFF2-40B4-BE49-F238E27FC236}">
              <a16:creationId xmlns:a16="http://schemas.microsoft.com/office/drawing/2014/main" id="{EF2AA51E-5217-E178-EECC-1F4DADA4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7">
            <a:extLst>
              <a:ext uri="{FF2B5EF4-FFF2-40B4-BE49-F238E27FC236}">
                <a16:creationId xmlns:a16="http://schemas.microsoft.com/office/drawing/2014/main" id="{B3A22A65-8C3D-614D-550A-509B58B2A8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Trebuchet MS"/>
              <a:buNone/>
            </a:pPr>
            <a:r>
              <a:rPr lang="en-US"/>
              <a:t>Power BI vs. Tableau Public – Integration</a:t>
            </a:r>
            <a:endParaRPr/>
          </a:p>
        </p:txBody>
      </p:sp>
      <p:graphicFrame>
        <p:nvGraphicFramePr>
          <p:cNvPr id="180" name="Google Shape;180;p7">
            <a:extLst>
              <a:ext uri="{FF2B5EF4-FFF2-40B4-BE49-F238E27FC236}">
                <a16:creationId xmlns:a16="http://schemas.microsoft.com/office/drawing/2014/main" id="{7F362A56-010C-DB1D-5C93-78DE8218F21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125500"/>
              </p:ext>
            </p:extLst>
          </p:nvPr>
        </p:nvGraphicFramePr>
        <p:xfrm>
          <a:off x="677863" y="2239635"/>
          <a:ext cx="8534717" cy="3243050"/>
        </p:xfrm>
        <a:graphic>
          <a:graphicData uri="http://schemas.openxmlformats.org/drawingml/2006/table">
            <a:tbl>
              <a:tblPr firstRow="1" bandRow="1">
                <a:noFill/>
                <a:tableStyleId>{306761B3-5ABD-4008-8FC3-768F6B6C9467}</a:tableStyleId>
              </a:tblPr>
              <a:tblGrid>
                <a:gridCol w="1854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57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46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3436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Feature</a:t>
                      </a:r>
                      <a:endParaRPr/>
                    </a:p>
                  </a:txBody>
                  <a:tcPr marL="71600" marR="71600" marT="35800" marB="358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Power BI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Tableau</a:t>
                      </a:r>
                      <a:endParaRPr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986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Microsoft Integration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/>
                        <a:t>Strong Microsoft ecosystem integration</a:t>
                      </a:r>
                      <a:endParaRPr dirty="0"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/>
                        <a:t>Limited Microsoft support</a:t>
                      </a:r>
                      <a:endParaRPr dirty="0"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2742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Third-party Support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Limited support, many connectors need Pro version</a:t>
                      </a:r>
                      <a:endParaRPr dirty="0"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More flexible, but manual imports only in free version</a:t>
                      </a:r>
                      <a:endParaRPr dirty="0"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6314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Cloud Services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Azure and OneDrive supported, limited in free tier</a:t>
                      </a:r>
                      <a:endParaRPr dirty="0"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AWS and Google Cloud supported, manual imports in free version</a:t>
                      </a:r>
                      <a:endParaRPr dirty="0"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917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Python Integration</a:t>
                      </a:r>
                      <a:endParaRPr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Supports scripting, needs setup; some Pro-only tools</a:t>
                      </a:r>
                      <a:endParaRPr dirty="0"/>
                    </a:p>
                  </a:txBody>
                  <a:tcPr marL="71600" marR="71600" marT="35800" marB="358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Supports scripting, but no live connection; manual data refresh</a:t>
                      </a:r>
                      <a:endParaRPr dirty="0"/>
                    </a:p>
                  </a:txBody>
                  <a:tcPr marL="71600" marR="71600" marT="35800" marB="358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35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240929-455F-2754-E005-008A555006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859" y="457200"/>
            <a:ext cx="9070235" cy="4810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7441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29FBA430-5EEB-5A40-82D7-7B7133231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46" y="388620"/>
            <a:ext cx="8998219" cy="4772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2046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3149AA7-5D9C-03C7-945A-DA46618631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580" y="571500"/>
            <a:ext cx="8860180" cy="473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90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9E7DFCA-2314-40AB-6C23-86A1A28A1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731520"/>
            <a:ext cx="9076418" cy="4617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364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34D07A-7163-8181-C2CC-2508D3447F88}"/>
              </a:ext>
            </a:extLst>
          </p:cNvPr>
          <p:cNvSpPr txBox="1"/>
          <p:nvPr/>
        </p:nvSpPr>
        <p:spPr>
          <a:xfrm>
            <a:off x="3274142" y="1789471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endParaRPr lang="en-C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6A72AC9-0F17-1F39-36B0-4CBDE8383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530" y="0"/>
            <a:ext cx="6668431" cy="18957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16A79B8-560E-C5BB-0F30-1BDF13321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794" y="1895740"/>
            <a:ext cx="6392167" cy="474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0501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C7AE00-8806-1A5E-E989-A2127B57A280}"/>
              </a:ext>
            </a:extLst>
          </p:cNvPr>
          <p:cNvSpPr txBox="1"/>
          <p:nvPr/>
        </p:nvSpPr>
        <p:spPr>
          <a:xfrm>
            <a:off x="412955" y="825910"/>
            <a:ext cx="797396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Microsoft Power BI Official Page</a:t>
            </a:r>
            <a:r>
              <a:rPr lang="en-US" dirty="0"/>
              <a:t>:</a:t>
            </a:r>
            <a:r>
              <a:rPr lang="en-CA" dirty="0">
                <a:hlinkClick r:id="rId2"/>
              </a:rPr>
              <a:t>https://www.microsoft.com/en-us/power-platform/products/power-bi/desktop</a:t>
            </a:r>
            <a:endParaRPr lang="en-CA" dirty="0"/>
          </a:p>
          <a:p>
            <a:endParaRPr lang="en-US" dirty="0"/>
          </a:p>
          <a:p>
            <a:r>
              <a:rPr lang="en-US" dirty="0"/>
              <a:t>Power BI Overview by Microsoft Learn:</a:t>
            </a:r>
            <a:r>
              <a:rPr lang="en-CA" dirty="0">
                <a:hlinkClick r:id="rId3"/>
              </a:rPr>
              <a:t>https://learn.microsoft.com/en-us/power-bi/fundamentals/power-bi-overview</a:t>
            </a:r>
            <a:endParaRPr lang="en-CA" dirty="0"/>
          </a:p>
          <a:p>
            <a:br>
              <a:rPr lang="en-CA" dirty="0"/>
            </a:br>
            <a:r>
              <a:rPr lang="fr-FR" dirty="0"/>
              <a:t>Power BI vs Tableau </a:t>
            </a:r>
            <a:r>
              <a:rPr lang="fr-FR" dirty="0" err="1"/>
              <a:t>Comparison</a:t>
            </a:r>
            <a:r>
              <a:rPr lang="fr-FR" dirty="0"/>
              <a:t>: </a:t>
            </a:r>
            <a:r>
              <a:rPr lang="en-CA" dirty="0">
                <a:hlinkClick r:id="rId4"/>
              </a:rPr>
              <a:t>https://www.g2.com/compare/power-bi-vs-tableau</a:t>
            </a:r>
            <a:br>
              <a:rPr lang="en-CA" dirty="0"/>
            </a:br>
            <a:br>
              <a:rPr lang="en-CA" dirty="0"/>
            </a:br>
            <a:r>
              <a:rPr lang="en-CA" dirty="0"/>
              <a:t>Tableau Public Features: </a:t>
            </a:r>
            <a:r>
              <a:rPr lang="en-CA" dirty="0">
                <a:hlinkClick r:id="rId5"/>
              </a:rPr>
              <a:t>https://public.tableau.com/en-us/s/</a:t>
            </a:r>
            <a:endParaRPr lang="en-CA" dirty="0"/>
          </a:p>
          <a:p>
            <a:endParaRPr lang="en-CA" dirty="0"/>
          </a:p>
          <a:p>
            <a:r>
              <a:rPr lang="en-US" dirty="0"/>
              <a:t>Power BI Components and Architecture</a:t>
            </a:r>
            <a:r>
              <a:rPr lang="en-CA" dirty="0"/>
              <a:t>: </a:t>
            </a:r>
            <a:r>
              <a:rPr lang="en-CA" dirty="0">
                <a:hlinkClick r:id="rId6"/>
              </a:rPr>
              <a:t>https://radacad.com/power-bi-components-and-their-uses</a:t>
            </a:r>
            <a:endParaRPr lang="en-CA" dirty="0"/>
          </a:p>
          <a:p>
            <a:endParaRPr lang="en-CA" dirty="0"/>
          </a:p>
          <a:p>
            <a:r>
              <a:rPr lang="en-US" dirty="0"/>
              <a:t>Power Query and Data Modeling in Power BI</a:t>
            </a:r>
            <a:r>
              <a:rPr lang="en-CA" dirty="0"/>
              <a:t>  </a:t>
            </a:r>
            <a:r>
              <a:rPr lang="en-CA" dirty="0">
                <a:hlinkClick r:id="rId7"/>
              </a:rPr>
              <a:t>https://www.sqlbi.com/guides/power-bi/</a:t>
            </a:r>
            <a:endParaRPr lang="en-CA" dirty="0"/>
          </a:p>
          <a:p>
            <a:endParaRPr lang="en-CA" dirty="0"/>
          </a:p>
          <a:p>
            <a:r>
              <a:rPr lang="en-CA" dirty="0"/>
              <a:t>Installing Power BI Desktop from Microsoft Store  </a:t>
            </a:r>
            <a:r>
              <a:rPr lang="en-CA" dirty="0">
                <a:hlinkClick r:id="rId8"/>
              </a:rPr>
              <a:t>https://apps.microsoft.com/store/detail/power-bi-desktop/9NTXR16HNW1T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33949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72613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rgbClr val="000000"/>
      </a:dk1>
      <a:lt1>
        <a:srgbClr val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2185</TotalTime>
  <Words>1139</Words>
  <Application>Microsoft Office PowerPoint</Application>
  <PresentationFormat>Widescreen</PresentationFormat>
  <Paragraphs>132</Paragraphs>
  <Slides>19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Noto Sans Symbols</vt:lpstr>
      <vt:lpstr>Trebuchet MS</vt:lpstr>
      <vt:lpstr>Facet</vt:lpstr>
      <vt:lpstr>Microsoft Power BI: Overview, Features, and Comparison with Tableau</vt:lpstr>
      <vt:lpstr>PowerPoint Presentation</vt:lpstr>
      <vt:lpstr>PowerPoint Presentation</vt:lpstr>
      <vt:lpstr>PowerPoint Presentation</vt:lpstr>
      <vt:lpstr>Introduction to Power BI</vt:lpstr>
      <vt:lpstr>Key Features of Power BI</vt:lpstr>
      <vt:lpstr>Power BI Components</vt:lpstr>
      <vt:lpstr>Power BI vs. Tableau Public – Accessibility</vt:lpstr>
      <vt:lpstr>Power BI vs. Tableau Public – Functionality</vt:lpstr>
      <vt:lpstr>Power BI vs. Tableau Public – Functionality</vt:lpstr>
      <vt:lpstr>Power BI vs. Tableau Public – Integration</vt:lpstr>
      <vt:lpstr>Power BI vs. Tableau Public – Integration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Pedram Sharifani</dc:creator>
  <cp:lastModifiedBy>Ahmad Issa</cp:lastModifiedBy>
  <cp:revision>7</cp:revision>
  <dcterms:created xsi:type="dcterms:W3CDTF">2025-02-25T12:13:35Z</dcterms:created>
  <dcterms:modified xsi:type="dcterms:W3CDTF">2025-04-04T04:38:22Z</dcterms:modified>
</cp:coreProperties>
</file>